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zKAjPyJ0N1nP736xgF+qw==" hashData="ZqM4spwW5Y2HbKUFm8W8m3V7DH4fOg8X4Xj8fgDRAhBdXfQrleL90C924uMw77OE3XwgMfLAirWSDFglyOCvQg=="/>
  <p:extLst>
    <p:ext uri="{521415D9-36F7-43E2-AB2F-B90AF26B5E84}">
      <p14:sectionLst xmlns:p14="http://schemas.microsoft.com/office/powerpoint/2010/main">
        <p14:section name="Overview" id="{3651D022-6AFB-20C0-3016-3872D0786A0D}">
          <p14:sldIdLst>
            <p14:sldId id="256"/>
          </p14:sldIdLst>
        </p14:section>
        <p14:section name="Build" id="{A552CFDC-6776-4BFB-D460-FA00BA85CFB7}">
          <p14:sldIdLst>
            <p14:sldId id="257"/>
            <p14:sldId id="258"/>
          </p14:sldIdLst>
        </p14:section>
        <p14:section name="Dashboards" id="{BD1B29BB-D4F1-A753-D338-B520CDAFD31B}">
          <p14:sldIdLst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360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772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0574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Umesh Sakpal  |  Consumer Electronics: Sales Performance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77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Consumer Electronics: Sales Performance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057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Power BI dashboard  |  3 report pages  |  Sales data 2018 to 2022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Shows managers which years, employees, products and states drive revenue.</a:t>
            </a:r>
            <a:endParaRPr lang="en-US" sz="1800" dirty="0"/>
          </a:p>
        </p:txBody>
      </p:sp>
      <p:sp>
        <p:nvSpPr>
          <p:cNvPr id="4" name="Stat card 1"/>
          <p:cNvSpPr/>
          <p:nvPr/>
        </p:nvSpPr>
        <p:spPr>
          <a:xfrm>
            <a:off x="548640" y="320040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at value 1"/>
          <p:cNvSpPr txBox="1"/>
          <p:nvPr/>
        </p:nvSpPr>
        <p:spPr>
          <a:xfrm>
            <a:off x="548640" y="3310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26.9M</a:t>
            </a:r>
            <a:endParaRPr lang="en-US" sz="3000" dirty="0"/>
          </a:p>
        </p:txBody>
      </p:sp>
      <p:sp>
        <p:nvSpPr>
          <p:cNvPr id="6" name="Stat label 1"/>
          <p:cNvSpPr txBox="1"/>
          <p:nvPr/>
        </p:nvSpPr>
        <p:spPr>
          <a:xfrm>
            <a:off x="5486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2194560" y="320040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tat value 2"/>
          <p:cNvSpPr txBox="1"/>
          <p:nvPr/>
        </p:nvSpPr>
        <p:spPr>
          <a:xfrm>
            <a:off x="2194560" y="3310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96</a:t>
            </a:r>
            <a:endParaRPr lang="en-US" sz="3000" dirty="0"/>
          </a:p>
        </p:txBody>
      </p:sp>
      <p:sp>
        <p:nvSpPr>
          <p:cNvPr id="9" name="Stat label 2"/>
          <p:cNvSpPr txBox="1"/>
          <p:nvPr/>
        </p:nvSpPr>
        <p:spPr>
          <a:xfrm>
            <a:off x="219456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3840480" y="320040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tat value 3"/>
          <p:cNvSpPr txBox="1"/>
          <p:nvPr/>
        </p:nvSpPr>
        <p:spPr>
          <a:xfrm>
            <a:off x="3840480" y="3310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49</a:t>
            </a:r>
            <a:endParaRPr lang="en-US" sz="3000" dirty="0"/>
          </a:p>
        </p:txBody>
      </p:sp>
      <p:sp>
        <p:nvSpPr>
          <p:cNvPr id="12" name="Stat label 3"/>
          <p:cNvSpPr txBox="1"/>
          <p:nvPr/>
        </p:nvSpPr>
        <p:spPr>
          <a:xfrm>
            <a:off x="384048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States served</a:t>
            </a:r>
            <a:endParaRPr lang="en-US" sz="1200" dirty="0"/>
          </a:p>
        </p:txBody>
      </p:sp>
      <p:sp>
        <p:nvSpPr>
          <p:cNvPr id="13" name="Stat card 4"/>
          <p:cNvSpPr/>
          <p:nvPr/>
        </p:nvSpPr>
        <p:spPr>
          <a:xfrm>
            <a:off x="5486400" y="320040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at value 4"/>
          <p:cNvSpPr txBox="1"/>
          <p:nvPr/>
        </p:nvSpPr>
        <p:spPr>
          <a:xfrm>
            <a:off x="5486400" y="3310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84</a:t>
            </a:r>
            <a:endParaRPr lang="en-US" sz="3000" dirty="0"/>
          </a:p>
        </p:txBody>
      </p:sp>
      <p:sp>
        <p:nvSpPr>
          <p:cNvPr id="15" name="Stat label 4"/>
          <p:cNvSpPr txBox="1"/>
          <p:nvPr/>
        </p:nvSpPr>
        <p:spPr>
          <a:xfrm>
            <a:off x="548640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Products</a:t>
            </a:r>
            <a:endParaRPr lang="en-US" sz="1200" dirty="0"/>
          </a:p>
        </p:txBody>
      </p:sp>
      <p:sp>
        <p:nvSpPr>
          <p:cNvPr id="16" name="Stat card 5"/>
          <p:cNvSpPr/>
          <p:nvPr/>
        </p:nvSpPr>
        <p:spPr>
          <a:xfrm>
            <a:off x="7132320" y="320040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tat value 5"/>
          <p:cNvSpPr txBox="1"/>
          <p:nvPr/>
        </p:nvSpPr>
        <p:spPr>
          <a:xfrm>
            <a:off x="7132320" y="3310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21</a:t>
            </a:r>
            <a:endParaRPr lang="en-US" sz="3000" dirty="0"/>
          </a:p>
        </p:txBody>
      </p:sp>
      <p:sp>
        <p:nvSpPr>
          <p:cNvPr id="18" name="Stat label 5"/>
          <p:cNvSpPr txBox="1"/>
          <p:nvPr/>
        </p:nvSpPr>
        <p:spPr>
          <a:xfrm>
            <a:off x="71323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Product categories</a:t>
            </a:r>
            <a:endParaRPr lang="en-US" sz="1200" dirty="0"/>
          </a:p>
        </p:txBody>
      </p:sp>
      <p:sp>
        <p:nvSpPr>
          <p:cNvPr id="19" name="Author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Umesh Sakpal  |  Power BI Developer and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and Data </a:t>
            </a:r>
            <a:r>
              <a:rPr lang="en-US" dirty="0"/>
              <a:t>M</a:t>
            </a:r>
            <a:r>
              <a:rPr lang="en-US" sz="3000" b="1" dirty="0">
                <a:solidFill>
                  <a:schemeClr val="tx1"/>
                </a:solidFill>
              </a:rPr>
              <a:t>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20240" y="2720340"/>
            <a:ext cx="3200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03320" y="2720340"/>
            <a:ext cx="3200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71800" y="1783080"/>
            <a:ext cx="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3291840"/>
            <a:ext cx="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01952" y="25054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5054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5054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25054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17922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19202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33101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*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Box Transaction Data"/>
          <p:cNvSpPr/>
          <p:nvPr/>
        </p:nvSpPr>
        <p:spPr>
          <a:xfrm>
            <a:off x="457200" y="219456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Transaction Data"/>
          <p:cNvSpPr txBox="1"/>
          <p:nvPr/>
        </p:nvSpPr>
        <p:spPr>
          <a:xfrm>
            <a:off x="530352" y="2231136"/>
            <a:ext cx="13167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Transaction Data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Order ID, Order Date, Month, Quarter, Year</a:t>
            </a:r>
            <a:endParaRPr lang="en-US" sz="1100" dirty="0"/>
          </a:p>
        </p:txBody>
      </p:sp>
      <p:sp>
        <p:nvSpPr>
          <p:cNvPr id="17" name="Box Product Data"/>
          <p:cNvSpPr/>
          <p:nvPr/>
        </p:nvSpPr>
        <p:spPr>
          <a:xfrm>
            <a:off x="4023360" y="219456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Product Data"/>
          <p:cNvSpPr txBox="1"/>
          <p:nvPr/>
        </p:nvSpPr>
        <p:spPr>
          <a:xfrm>
            <a:off x="4096512" y="2231136"/>
            <a:ext cx="13167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Product Data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Product ID, Name, Category, Group, Unit Price</a:t>
            </a:r>
            <a:endParaRPr lang="en-US" sz="1100" dirty="0"/>
          </a:p>
        </p:txBody>
      </p:sp>
      <p:sp>
        <p:nvSpPr>
          <p:cNvPr id="19" name="Box Sales_Employee_Data"/>
          <p:cNvSpPr/>
          <p:nvPr/>
        </p:nvSpPr>
        <p:spPr>
          <a:xfrm>
            <a:off x="1965960" y="105156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Sales_Employee_Data"/>
          <p:cNvSpPr txBox="1"/>
          <p:nvPr/>
        </p:nvSpPr>
        <p:spPr>
          <a:xfrm>
            <a:off x="2039112" y="1088136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Sales_Employee_Data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Employee ID, name, gender, joining date</a:t>
            </a:r>
            <a:endParaRPr lang="en-US" sz="1100" dirty="0"/>
          </a:p>
        </p:txBody>
      </p:sp>
      <p:sp>
        <p:nvSpPr>
          <p:cNvPr id="21" name="Box Customer_Profile_Data"/>
          <p:cNvSpPr/>
          <p:nvPr/>
        </p:nvSpPr>
        <p:spPr>
          <a:xfrm>
            <a:off x="1965960" y="365760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Customer_Profile_Data"/>
          <p:cNvSpPr txBox="1"/>
          <p:nvPr/>
        </p:nvSpPr>
        <p:spPr>
          <a:xfrm>
            <a:off x="2039112" y="3694176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Customer_Profile_Data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Customer ID, name, city, state, zip</a:t>
            </a:r>
            <a:endParaRPr lang="en-US" sz="1100" dirty="0"/>
          </a:p>
        </p:txBody>
      </p:sp>
      <p:sp>
        <p:nvSpPr>
          <p:cNvPr id="23" name="Box Sales Data"/>
          <p:cNvSpPr/>
          <p:nvPr/>
        </p:nvSpPr>
        <p:spPr>
          <a:xfrm>
            <a:off x="2240280" y="2148840"/>
            <a:ext cx="146304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Sales Data"/>
          <p:cNvSpPr txBox="1"/>
          <p:nvPr/>
        </p:nvSpPr>
        <p:spPr>
          <a:xfrm>
            <a:off x="2313432" y="2185416"/>
            <a:ext cx="13167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Sales Data (fact)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Order ID, Customer ID, Employee ID, Product ID, Quantity, Discount, Unit_Price, Total_Revenue</a:t>
            </a:r>
            <a:endParaRPr lang="en-US" sz="1100" dirty="0"/>
          </a:p>
        </p:txBody>
      </p:sp>
      <p:sp>
        <p:nvSpPr>
          <p:cNvPr id="25" name="Data bullets"/>
          <p:cNvSpPr txBox="1"/>
          <p:nvPr/>
        </p:nvSpPr>
        <p:spPr>
          <a:xfrm>
            <a:off x="5852160" y="105156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Data holds one row per order 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years of orders, 2018 to 2022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96 employees, 84 products, 21 categories, 49 states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 schema: 4 lookup tables, each one-to-many into Sales Data</a:t>
            </a:r>
            <a:endParaRPr lang="en-US" sz="1400" dirty="0"/>
          </a:p>
        </p:txBody>
      </p:sp>
      <p:sp>
        <p:nvSpPr>
          <p:cNvPr id="26" name="Rows card"/>
          <p:cNvSpPr/>
          <p:nvPr/>
        </p:nvSpPr>
        <p:spPr>
          <a:xfrm>
            <a:off x="5852160" y="3794760"/>
            <a:ext cx="283464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Rows text"/>
          <p:cNvSpPr txBox="1"/>
          <p:nvPr/>
        </p:nvSpPr>
        <p:spPr>
          <a:xfrm>
            <a:off x="5852160" y="3794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Rows in Sales Data: [add count]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DAX and Measures</a:t>
            </a:r>
            <a:endParaRPr lang="en-US" sz="3000" dirty="0"/>
          </a:p>
        </p:txBody>
      </p:sp>
      <p:sp>
        <p:nvSpPr>
          <p:cNvPr id="3" name="DAX 1"/>
          <p:cNvSpPr/>
          <p:nvPr/>
        </p:nvSpPr>
        <p:spPr>
          <a:xfrm>
            <a:off x="457200" y="1051560"/>
            <a:ext cx="51206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CALCULATED COLUMN  |  Sales Data[Total_Revenue]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35608"/>
            <a:ext cx="475488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DAX 1 code"/>
          <p:cNvSpPr txBox="1"/>
          <p:nvPr/>
        </p:nvSpPr>
        <p:spPr>
          <a:xfrm>
            <a:off x="749808" y="1435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Total_Revenue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[Quantity] * [Unit_Price]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([Quantity] * [Unit_Price] * [Discount] / 100)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31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Revenue after discount (Discount is a percentage).</a:t>
            </a:r>
            <a:endParaRPr lang="en-US" sz="1200" dirty="0"/>
          </a:p>
        </p:txBody>
      </p:sp>
      <p:sp>
        <p:nvSpPr>
          <p:cNvPr id="8" name="DAX 2"/>
          <p:cNvSpPr/>
          <p:nvPr/>
        </p:nvSpPr>
        <p:spPr>
          <a:xfrm>
            <a:off x="457200" y="2834640"/>
            <a:ext cx="51206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CALCULATED COLUMN  |  Sales Data[Unit_Price]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475488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DAX 2 code"/>
          <p:cNvSpPr txBox="1"/>
          <p:nvPr/>
        </p:nvSpPr>
        <p:spPr>
          <a:xfrm>
            <a:off x="749808" y="3218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Unit_Price = LOOKUPVALUE(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'Product Data'[Unit Price],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'Product Data'[Product ID],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'Sales Data'[Product_ID])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97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Brings each product’s price into Sales Data.</a:t>
            </a:r>
            <a:endParaRPr lang="en-US" sz="1200" dirty="0"/>
          </a:p>
        </p:txBody>
      </p:sp>
      <p:sp>
        <p:nvSpPr>
          <p:cNvPr id="13" name="Measures card"/>
          <p:cNvSpPr/>
          <p:nvPr/>
        </p:nvSpPr>
        <p:spPr>
          <a:xfrm>
            <a:off x="5852160" y="1051560"/>
            <a:ext cx="283464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Measures text"/>
          <p:cNvSpPr txBox="1"/>
          <p:nvPr/>
        </p:nvSpPr>
        <p:spPr>
          <a:xfrm>
            <a:off x="5989320" y="114300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Measures (aggregations)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Sum of Total_Revenue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Sum of Quantity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Count of Employee ID, State, Product Name, Category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Customers per year</a:t>
            </a:r>
            <a:endParaRPr lang="en-US" sz="1400" dirty="0"/>
          </a:p>
        </p:txBody>
      </p:sp>
      <p:sp>
        <p:nvSpPr>
          <p:cNvPr id="15" name="Also used card"/>
          <p:cNvSpPr/>
          <p:nvPr/>
        </p:nvSpPr>
        <p:spPr>
          <a:xfrm>
            <a:off x="5852160" y="3200400"/>
            <a:ext cx="28346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Also used text"/>
          <p:cNvSpPr txBox="1"/>
          <p:nvPr/>
        </p:nvSpPr>
        <p:spPr>
          <a:xfrm>
            <a:off x="5989320" y="32735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Also used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Top N filters (Top and Bottom 5)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AI visuals: key influencers, decomposition tree, smart narrative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Sales Performance </a:t>
            </a:r>
            <a:r>
              <a:rPr lang="en-US" dirty="0"/>
              <a:t>V</a:t>
            </a:r>
            <a:r>
              <a:rPr lang="en-US" sz="3000" b="1" dirty="0">
                <a:solidFill>
                  <a:schemeClr val="tx1"/>
                </a:solidFill>
              </a:rPr>
              <a:t>iew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11480" y="1005840"/>
            <a:ext cx="5212080" cy="298349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Purpose"/>
          <p:cNvSpPr txBox="1"/>
          <p:nvPr/>
        </p:nvSpPr>
        <p:spPr>
          <a:xfrm>
            <a:off x="457200" y="41264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Purpose: </a:t>
            </a:r>
            <a:r>
              <a:rPr lang="en-US" sz="1400" dirty="0">
                <a:solidFill>
                  <a:schemeClr val="tx1"/>
                </a:solidFill>
              </a:rPr>
              <a:t>Pick a year, quarter and employee to see revenue, units and monthly trend.</a:t>
            </a:r>
            <a:endParaRPr lang="en-US" sz="1400" dirty="0"/>
          </a:p>
        </p:txBody>
      </p:sp>
      <p:sp>
        <p:nvSpPr>
          <p:cNvPr id="6" name="Insights card"/>
          <p:cNvSpPr/>
          <p:nvPr/>
        </p:nvSpPr>
        <p:spPr>
          <a:xfrm>
            <a:off x="5852160" y="1005840"/>
            <a:ext cx="2834640" cy="361188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Insights"/>
          <p:cNvSpPr txBox="1"/>
          <p:nvPr/>
        </p:nvSpPr>
        <p:spPr>
          <a:xfrm>
            <a:off x="5989320" y="1097280"/>
            <a:ext cx="2560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insights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Totals at a glance: 96 employees, 49 states, 84 products, 21 categories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Example: Employee 202 in Q4 2021 made 7.39K from 45 units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November was the best month (4.9K), October the weakest (0.5K)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A6925-6889-0C4E-167D-97652DC9F727}"/>
              </a:ext>
            </a:extLst>
          </p:cNvPr>
          <p:cNvSpPr/>
          <p:nvPr/>
        </p:nvSpPr>
        <p:spPr>
          <a:xfrm>
            <a:off x="411480" y="1005840"/>
            <a:ext cx="5212080" cy="298349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Top and Bottom </a:t>
            </a:r>
            <a:r>
              <a:rPr lang="en-US" dirty="0"/>
              <a:t>P</a:t>
            </a:r>
            <a:r>
              <a:rPr lang="en-US" sz="3000" b="1" dirty="0">
                <a:solidFill>
                  <a:schemeClr val="tx1"/>
                </a:solidFill>
              </a:rPr>
              <a:t>erformers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11480" y="1005840"/>
            <a:ext cx="5212080" cy="298349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Purpose"/>
          <p:cNvSpPr txBox="1"/>
          <p:nvPr/>
        </p:nvSpPr>
        <p:spPr>
          <a:xfrm>
            <a:off x="457200" y="41264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Purpose: </a:t>
            </a:r>
            <a:r>
              <a:rPr lang="en-US" sz="1400" dirty="0">
                <a:solidFill>
                  <a:schemeClr val="tx1"/>
                </a:solidFill>
              </a:rPr>
              <a:t>Shows the best and worst 5 states, employees, products and categories by year.</a:t>
            </a:r>
            <a:endParaRPr lang="en-US" sz="1400" dirty="0"/>
          </a:p>
        </p:txBody>
      </p:sp>
      <p:sp>
        <p:nvSpPr>
          <p:cNvPr id="6" name="Insights card"/>
          <p:cNvSpPr/>
          <p:nvPr/>
        </p:nvSpPr>
        <p:spPr>
          <a:xfrm>
            <a:off x="5852160" y="1005840"/>
            <a:ext cx="2834640" cy="361188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Insights"/>
          <p:cNvSpPr txBox="1"/>
          <p:nvPr/>
        </p:nvSpPr>
        <p:spPr>
          <a:xfrm>
            <a:off x="5989320" y="1097280"/>
            <a:ext cx="2560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insights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2018: California led states at 0.72M, Vermont was last at 2.6K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product PCMaster (0.28M); top category Personal Computers (0.52M)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employee Dorise (90K) vs weakest, Consuelo (29K)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D8C9CF-4ABC-B941-F234-DCC6DBA3CECC}"/>
              </a:ext>
            </a:extLst>
          </p:cNvPr>
          <p:cNvSpPr/>
          <p:nvPr/>
        </p:nvSpPr>
        <p:spPr>
          <a:xfrm>
            <a:off x="411480" y="1005840"/>
            <a:ext cx="5212080" cy="298349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AI Visuals: What </a:t>
            </a:r>
            <a:r>
              <a:rPr lang="en-US" dirty="0"/>
              <a:t>D</a:t>
            </a:r>
            <a:r>
              <a:rPr lang="en-US" sz="3000" b="1" dirty="0">
                <a:solidFill>
                  <a:schemeClr val="tx1"/>
                </a:solidFill>
              </a:rPr>
              <a:t>rives </a:t>
            </a:r>
            <a:r>
              <a:rPr lang="en-US" dirty="0"/>
              <a:t>R</a:t>
            </a:r>
            <a:r>
              <a:rPr lang="en-US" sz="3000" b="1" dirty="0">
                <a:solidFill>
                  <a:schemeClr val="tx1"/>
                </a:solidFill>
              </a:rPr>
              <a:t>evenue?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11480" y="1005840"/>
            <a:ext cx="5212080" cy="298349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Purpose"/>
          <p:cNvSpPr txBox="1"/>
          <p:nvPr/>
        </p:nvSpPr>
        <p:spPr>
          <a:xfrm>
            <a:off x="457200" y="41264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Purpose: </a:t>
            </a:r>
            <a:r>
              <a:rPr lang="en-US" sz="1400" dirty="0">
                <a:solidFill>
                  <a:schemeClr val="tx1"/>
                </a:solidFill>
              </a:rPr>
              <a:t>Explains why revenue moves, not just how much.</a:t>
            </a:r>
            <a:endParaRPr lang="en-US" sz="1400" dirty="0"/>
          </a:p>
        </p:txBody>
      </p:sp>
      <p:sp>
        <p:nvSpPr>
          <p:cNvPr id="6" name="Insights card"/>
          <p:cNvSpPr/>
          <p:nvPr/>
        </p:nvSpPr>
        <p:spPr>
          <a:xfrm>
            <a:off x="5852160" y="1005840"/>
            <a:ext cx="2834640" cy="361188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Insights"/>
          <p:cNvSpPr txBox="1"/>
          <p:nvPr/>
        </p:nvSpPr>
        <p:spPr>
          <a:xfrm>
            <a:off x="5989320" y="1097280"/>
            <a:ext cx="2560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insights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revenue 2018 to 2022: 26.9M, steady at 5.3M to 5.5M a year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Q4 had the highest average revenue per order line (1,012.68)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PCMaster lifts revenue the most (+2,412 per order line)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Drill path: 2021, Q4, December, Air Conditioner, Texas, Austin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9D727-8BAA-E3E7-3BA2-317AB6585B10}"/>
              </a:ext>
            </a:extLst>
          </p:cNvPr>
          <p:cNvSpPr/>
          <p:nvPr/>
        </p:nvSpPr>
        <p:spPr>
          <a:xfrm>
            <a:off x="411480" y="1005840"/>
            <a:ext cx="5212080" cy="298349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act card"/>
          <p:cNvSpPr/>
          <p:nvPr/>
        </p:nvSpPr>
        <p:spPr>
          <a:xfrm>
            <a:off x="2194560" y="202311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175000" y="2232660"/>
            <a:ext cx="279400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Thank You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 Dashboard">
  <a:themeElements>
    <a:clrScheme name="Sales Dashboard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2563EB"/>
      </a:accent1>
      <a:accent2>
        <a:srgbClr val="F5B301"/>
      </a:accent2>
      <a:accent3>
        <a:srgbClr val="0EA5E9"/>
      </a:accent3>
      <a:accent4>
        <a:srgbClr val="64748B"/>
      </a:accent4>
      <a:accent5>
        <a:srgbClr val="10B981"/>
      </a:accent5>
      <a:accent6>
        <a:srgbClr val="EF4444"/>
      </a:accent6>
      <a:hlink>
        <a:srgbClr val="2563EB"/>
      </a:hlink>
      <a:folHlink>
        <a:srgbClr val="64748B"/>
      </a:folHlink>
    </a:clrScheme>
    <a:fontScheme name="Sales Dash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558</Words>
  <Application>Microsoft Office PowerPoint</Application>
  <PresentationFormat>On-screen Show 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Sales Dashboard</vt:lpstr>
      <vt:lpstr>Consumer Electronics: Sales Performance</vt:lpstr>
      <vt:lpstr>Data and Data Model</vt:lpstr>
      <vt:lpstr>DAX and Measures</vt:lpstr>
      <vt:lpstr>Sales Performance View</vt:lpstr>
      <vt:lpstr>Top and Bottom Performers</vt:lpstr>
      <vt:lpstr>AI Visuals: What Drives Revenue?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Electronics: Sales Performance</dc:title>
  <dc:subject>PptxGenJS Presentation</dc:subject>
  <dc:creator>Umesh Sakpal</dc:creator>
  <cp:lastModifiedBy>Umesh Sakpal</cp:lastModifiedBy>
  <cp:revision>3</cp:revision>
  <dcterms:created xsi:type="dcterms:W3CDTF">2026-10-23T21:36:41Z</dcterms:created>
  <dcterms:modified xsi:type="dcterms:W3CDTF">2026-10-23T21:51:19Z</dcterms:modified>
</cp:coreProperties>
</file>